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Default Extension="fntdata" ContentType="application/x-fontdata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 embedTrueTypeFonts="1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</ns0:sldIdLst>
  <ns0:sldSz cx="12192000" cy="6858000" type="screen4x3"/>
  <ns0:notesSz cx="6858000" cy="9144000"/>
  <ns0:embeddedFontLst>
    <ns0:embeddedFont>
      <ns0:font typeface="JetBrains Mono"/>
      <ns0:bold ns1:id="rIdFont17"/>
      <ns0:regular ns1:id="rIdFont18"/>
    </ns0:embeddedFont>
    <ns0:embeddedFont>
      <ns0:font typeface="Plus Jakarta Sans"/>
      <ns0:bold ns1:id="rIdFont19"/>
      <ns0:regular ns1:id="rIdFont20"/>
    </ns0:embeddedFont>
  </ns0:embeddedFontLst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ns0:Relationship Id="rId14" Type="http://schemas.openxmlformats.org/officeDocument/2006/relationships/slide" Target="slides/slide8.xml" /><ns0:Relationship Id="rId15" Type="http://schemas.openxmlformats.org/officeDocument/2006/relationships/slide" Target="slides/slide9.xml" /><ns0:Relationship Id="rId16" Type="http://schemas.openxmlformats.org/officeDocument/2006/relationships/slide" Target="slides/slide10.xml" /><ns0:Relationship Id="rIdFont17" Type="http://schemas.openxmlformats.org/officeDocument/2006/relationships/font" Target="fonts/5eeb225b-9926-45cc-a173-84baa3e9590d.fntdata" /><ns0:Relationship Id="rIdFont18" Type="http://schemas.openxmlformats.org/officeDocument/2006/relationships/font" Target="fonts/8ae25114-fd16-4c7a-8a4f-37ba30929a2b.fntdata" /><ns0:Relationship Id="rIdFont19" Type="http://schemas.openxmlformats.org/officeDocument/2006/relationships/font" Target="fonts/637cece9-2071-4a1a-b19c-7a0060bf6ab3.fntdata" /><ns0:Relationship Id="rIdFont20" Type="http://schemas.openxmlformats.org/officeDocument/2006/relationships/font" Target="fonts/948c9ded-ae39-463d-ae67-6b9f0516753b.fntdata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5838676"/>
            <a:ext cx="10668000" cy="4095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488852"/>
            <a:ext cx="457200" cy="38100"/>
          </a:xfrm>
          <a:prstGeom prst="roundRect">
            <a:avLst>
              <a:gd name="adj" fmla="val 50000"/>
            </a:avLst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5838676"/>
            <a:ext cx="106680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361950" cy="361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77325" y="704850"/>
            <a:ext cx="2940843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94A3B8"/>
                </a:solidFill>
                <a:latin typeface="JetBrains Mono"/>
              </a:rPr>
              <a:t>01 / ARCHITECTURE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793652"/>
            <a:ext cx="11001375" cy="6076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84"/>
              </a:lnSpc>
            </a:pPr>
            <a:r>
              <a:rPr b="1" sz="4350" i="0" u="none">
                <a:solidFill>
                  <a:srgbClr val="FFFFFF"/>
                </a:solidFill>
                <a:latin typeface="Plus Jakarta Sans"/>
              </a:rPr>
              <a:t>Snapdragon Local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629917"/>
            <a:ext cx="10477500" cy="319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b="0" sz="1800" i="0" u="none">
                <a:solidFill>
                  <a:srgbClr val="CBD5E1"/>
                </a:solidFill>
                <a:latin typeface="Plus Jakarta Sans"/>
              </a:rPr>
              <a:t>Private, offline-first code and Vercel preflight checks.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064198"/>
            <a:ext cx="10477500" cy="2571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94A3B8"/>
                </a:solidFill>
                <a:latin typeface="Plus Jakarta Sans"/>
              </a:rPr>
              <a:t>Hexagon NPU-accelerated developer feedback designed for Snapdragon PCs.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076801"/>
            <a:ext cx="2452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4002B"/>
                </a:solidFill>
                <a:latin typeface="Plus Jakarta Sans"/>
              </a:rPr>
              <a:t>ZERO CLOUD DEPENDENCY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7050" y="6076801"/>
            <a:ext cx="3619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Plus Jakarta San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6150" y="6076801"/>
            <a:ext cx="259556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2E8F0"/>
                </a:solidFill>
                <a:latin typeface="Plus Jakarta Sans"/>
              </a:rPr>
              <a:t>Sub-second Deterministic Scans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0" y="6076801"/>
            <a:ext cx="3619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Plus Jakarta San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600" y="6076801"/>
            <a:ext cx="1940718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2E8F0"/>
                </a:solidFill>
                <a:latin typeface="Plus Jakarta Sans"/>
              </a:rPr>
              <a:t>On-Device Remediation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5848350"/>
            <a:ext cx="10668000" cy="47625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459831"/>
            <a:ext cx="3403550" cy="2138362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94150" y="2459831"/>
            <a:ext cx="3403550" cy="2138362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26300" y="2459831"/>
            <a:ext cx="3403550" cy="2138362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2459831"/>
            <a:ext cx="38100" cy="2138362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94150" y="2459831"/>
            <a:ext cx="38100" cy="213836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26300" y="2459831"/>
            <a:ext cx="38100" cy="213836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2802731"/>
            <a:ext cx="333375" cy="2667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000" y="2802731"/>
            <a:ext cx="266700" cy="2667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0150" y="2802731"/>
            <a:ext cx="266700" cy="2667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2000" y="533400"/>
            <a:ext cx="1143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4002B"/>
                </a:solidFill>
                <a:latin typeface="Plus Jakarta Sans"/>
              </a:rPr>
              <a:t>CURRENT BOTTLENECKS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81050"/>
            <a:ext cx="114300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The Developer Friction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6000750"/>
            <a:ext cx="6084093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334155"/>
                </a:solidFill>
                <a:latin typeface="Plus Jakarta Sans"/>
              </a:rPr>
              <a:t>Impact:</a:t>
            </a:r>
            <a:r>
              <a:rPr b="0" sz="1050" i="0" u="none">
                <a:solidFill>
                  <a:srgbClr val="334155"/>
                </a:solidFill>
                <a:latin typeface="Plus Jakarta Sans"/>
              </a:rPr>
              <a:t> Engineers wait minutes for feedback that should arrive in milliseconds.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005512"/>
            <a:ext cx="14287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JetBrains Mono"/>
              </a:rPr>
              <a:t>02 | CHALLENGES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" y="3259931"/>
            <a:ext cx="3667059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Plus Jakarta Sans"/>
              </a:rPr>
              <a:t>Cloud Review 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850" y="3612356"/>
            <a:ext cx="2889200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Plus Jakarta Sans"/>
              </a:rPr>
              <a:t>Round-trip CI stalls development and exposes proprietary source code to offsite servers.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000" y="3259931"/>
            <a:ext cx="3667059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Plus Jakarta Sans"/>
              </a:rPr>
              <a:t>Silent Config Leaks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8000" y="3612356"/>
            <a:ext cx="2889200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Plus Jakarta Sans"/>
              </a:rPr>
              <a:t>Manual checks consistently miss leaked tokens, broken rewrites, and bad Vercel headers.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0150" y="3259931"/>
            <a:ext cx="3667059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Plus Jakarta Sans"/>
              </a:rPr>
              <a:t>CPU Resource Contention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0150" y="3612356"/>
            <a:ext cx="2889200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Plus Jakarta Sans"/>
              </a:rPr>
              <a:t>Local linters and LLMs monopolize CPU cycles required for compilers and dev servers.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6000750"/>
            <a:ext cx="10668000" cy="3238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209800"/>
            <a:ext cx="5771257" cy="2790825"/>
          </a:xfrm>
          <a:prstGeom prst="roundRect">
            <a:avLst>
              <a:gd name="adj" fmla="val 4778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6000750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2600325"/>
            <a:ext cx="1240184" cy="219075"/>
          </a:xfrm>
          <a:prstGeom prst="roundRect">
            <a:avLst>
              <a:gd name="adj" fmla="val 17391"/>
            </a:avLst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76157" y="1924050"/>
            <a:ext cx="4553842" cy="1019175"/>
          </a:xfrm>
          <a:prstGeom prst="roundRect">
            <a:avLst>
              <a:gd name="adj" fmla="val 934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76157" y="3095625"/>
            <a:ext cx="4553842" cy="1019175"/>
          </a:xfrm>
          <a:prstGeom prst="roundRect">
            <a:avLst>
              <a:gd name="adj" fmla="val 934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76157" y="4267200"/>
            <a:ext cx="4553842" cy="1019175"/>
          </a:xfrm>
          <a:prstGeom prst="roundRect">
            <a:avLst>
              <a:gd name="adj" fmla="val 934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76157" y="1924050"/>
            <a:ext cx="38100" cy="1019175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76157" y="3095625"/>
            <a:ext cx="38100" cy="1019175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76157" y="4267200"/>
            <a:ext cx="38100" cy="101917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467225"/>
            <a:ext cx="114300" cy="1333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525" y="4467225"/>
            <a:ext cx="133350" cy="1333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2000" y="533400"/>
            <a:ext cx="1143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4002B"/>
                </a:solidFill>
                <a:latin typeface="Plus Jakarta Sans"/>
              </a:rPr>
              <a:t>ARCHITECTURAL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781050"/>
            <a:ext cx="114300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Instant Local Preflight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6167437"/>
            <a:ext cx="5405437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"/>
              </a:rPr>
              <a:t>Delivers sub-100ms rule evaluation alongside isolated local LLM inference.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400" y="6162675"/>
            <a:ext cx="12763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JetBrains Mono"/>
              </a:rPr>
              <a:t>03 |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8250" y="2638425"/>
            <a:ext cx="1144934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FFFFFF"/>
                </a:solidFill>
                <a:latin typeface="Plus Jakarta Sans"/>
              </a:rPr>
              <a:t>CORE PRINCIPLE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990850"/>
            <a:ext cx="5359732" cy="619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b="1" sz="1950" i="0" u="none">
                <a:solidFill>
                  <a:srgbClr val="FFFFFF"/>
                </a:solidFill>
                <a:latin typeface="Plus Jakarta Sans"/>
              </a:rPr>
              <a:t>One CLI command before commit or deployment.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762375"/>
            <a:ext cx="51045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94A3B8"/>
                </a:solidFill>
                <a:latin typeface="Plus Jakarta Sans"/>
              </a:rPr>
              <a:t>Deterministic security rules flag blockers instantly, while an on-device model delivers remediation without internet access.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2857" y="2133600"/>
            <a:ext cx="504914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Plus Jakarta Sans"/>
              </a:rPr>
              <a:t>Deterministic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2857" y="2390775"/>
            <a:ext cx="4153792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Plus Jakarta Sans"/>
              </a:rPr>
              <a:t>Immediate regex, AST, and schema validation catches syntax and token leaks.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42857" y="3305175"/>
            <a:ext cx="504914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Plus Jakarta Sans"/>
              </a:rPr>
              <a:t>NPU Code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2857" y="3562350"/>
            <a:ext cx="4153792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Plus Jakarta Sans"/>
              </a:rPr>
              <a:t>Synthesizes root causes and produces copy-paste fixes directly on the Hexagon NPU.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2857" y="4476750"/>
            <a:ext cx="504914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Plus Jakarta Sans"/>
              </a:rPr>
              <a:t>Offline Self-Sufficiency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2857" y="4733925"/>
            <a:ext cx="4153792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Plus Jakarta Sans"/>
              </a:rPr>
              <a:t>No cloud fallback required. Functions on flights, air-gapped labs, and VPNs.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2550" y="4448175"/>
            <a:ext cx="10382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2E8F0"/>
                </a:solidFill>
                <a:latin typeface="Plus Jakarta Sans"/>
              </a:rPr>
              <a:t>No API Keys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4125" y="4448175"/>
            <a:ext cx="11239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2E8F0"/>
                </a:solidFill>
                <a:latin typeface="Plus Jakarta Sans"/>
              </a:rPr>
              <a:t>Zero Uploads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5600700"/>
            <a:ext cx="10668000" cy="723900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657475"/>
            <a:ext cx="2236142" cy="1495425"/>
          </a:xfrm>
          <a:prstGeom prst="roundRect">
            <a:avLst>
              <a:gd name="adj" fmla="val 76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36292" y="2733675"/>
            <a:ext cx="2236142" cy="1343025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10585" y="2657475"/>
            <a:ext cx="2236142" cy="1495425"/>
          </a:xfrm>
          <a:prstGeom prst="roundRect">
            <a:avLst>
              <a:gd name="adj" fmla="val 76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84877" y="2719387"/>
            <a:ext cx="2645271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E40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2657475"/>
            <a:ext cx="2236142" cy="381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36292" y="2733675"/>
            <a:ext cx="2236142" cy="381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10585" y="2657475"/>
            <a:ext cx="2236142" cy="381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542" y="3328987"/>
            <a:ext cx="133350" cy="1524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835" y="3328987"/>
            <a:ext cx="133350" cy="1524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127" y="3328987"/>
            <a:ext cx="133350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9984" y="2962275"/>
            <a:ext cx="200025" cy="2286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5701" y="3038475"/>
            <a:ext cx="257175" cy="2286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9994" y="2962275"/>
            <a:ext cx="257175" cy="228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7975" y="3005137"/>
            <a:ext cx="219075" cy="2476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8700" y="5791200"/>
            <a:ext cx="342900" cy="3429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3475" y="5886450"/>
            <a:ext cx="133350" cy="15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2000" y="533400"/>
            <a:ext cx="1143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4002B"/>
                </a:solidFill>
                <a:latin typeface="Plus Jakarta Sans"/>
              </a:rPr>
              <a:t>SYSTEM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781050"/>
            <a:ext cx="114300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Technical Architecture &amp;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67900" y="5881687"/>
            <a:ext cx="16192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JetBrains Mono"/>
              </a:rPr>
              <a:t>04 | ARCHITECTURE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633" y="3324225"/>
            <a:ext cx="243487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0F172A"/>
                </a:solidFill>
                <a:latin typeface="Plus Jakarta Sans"/>
              </a:rPr>
              <a:t>Source Repo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607" y="3581400"/>
            <a:ext cx="2318928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Plus Jakarta Sans"/>
              </a:rPr>
              <a:t>Local Git working tree &amp; modified staging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6926" y="3400425"/>
            <a:ext cx="243487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0F172A"/>
                </a:solidFill>
                <a:latin typeface="Plus Jakarta Sans"/>
              </a:rPr>
              <a:t>Local CLI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4899" y="3657600"/>
            <a:ext cx="2318928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Plus Jakarta Sans"/>
              </a:rPr>
              <a:t>Fast deterministic rules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11219" y="3324225"/>
            <a:ext cx="243487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0F172A"/>
                </a:solidFill>
                <a:latin typeface="Plus Jakarta Sans"/>
              </a:rPr>
              <a:t>ONNX Runtime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9192" y="3581400"/>
            <a:ext cx="2318928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Plus Jakarta Sans"/>
              </a:rPr>
              <a:t>Tokenizer &amp; QNN Execution Provider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6588" y="3386137"/>
            <a:ext cx="2921849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75" i="0" u="none">
                <a:solidFill>
                  <a:srgbClr val="E4002B"/>
                </a:solidFill>
                <a:latin typeface="Plus Jakarta Sans"/>
              </a:rPr>
              <a:t>Hexagon NPU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16156" y="3652837"/>
            <a:ext cx="278271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0F172A"/>
                </a:solidFill>
                <a:latin typeface="Plus Jakarta Sans"/>
              </a:rPr>
              <a:t>HTP tensor engine handles inference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" y="5795962"/>
            <a:ext cx="7441406" cy="180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0F172A"/>
                </a:solidFill>
                <a:latin typeface="Plus Jakarta Sans"/>
              </a:rPr>
              <a:t>100% Host CPU Preservation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" y="5976937"/>
            <a:ext cx="744140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"/>
              </a:rPr>
              <a:t>Oryon CPU cores remain completely free for compilers, Next.js bundlers, tests, and Docker containers.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5991225"/>
            <a:ext cx="10668000" cy="333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690812"/>
            <a:ext cx="2524125" cy="1819275"/>
          </a:xfrm>
          <a:prstGeom prst="roundRect">
            <a:avLst>
              <a:gd name="adj" fmla="val 628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6625" y="2690812"/>
            <a:ext cx="2524125" cy="1819275"/>
          </a:xfrm>
          <a:prstGeom prst="roundRect">
            <a:avLst>
              <a:gd name="adj" fmla="val 628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91250" y="2690812"/>
            <a:ext cx="2524125" cy="1819275"/>
          </a:xfrm>
          <a:prstGeom prst="roundRect">
            <a:avLst>
              <a:gd name="adj" fmla="val 628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05875" y="2690812"/>
            <a:ext cx="2524125" cy="1819275"/>
          </a:xfrm>
          <a:prstGeom prst="roundRect">
            <a:avLst>
              <a:gd name="adj" fmla="val 628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5991225"/>
            <a:ext cx="1066800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533400"/>
            <a:ext cx="1143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4002B"/>
                </a:solidFill>
                <a:latin typeface="Plus Jakarta Sans"/>
              </a:rPr>
              <a:t>HARDWARE SYNERGIES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781050"/>
            <a:ext cx="114300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Why Snapdragon PCs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153150"/>
            <a:ext cx="6096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F172A"/>
                </a:solidFill>
                <a:latin typeface="Plus Jakarta Sans"/>
              </a:rPr>
              <a:t>Optimized specifically for Qualcomm Snapdragon X Elite and X Plus platforms.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0" y="6157912"/>
            <a:ext cx="10477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JetBrains Mono"/>
              </a:rPr>
              <a:t>05 |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125" y="3005137"/>
            <a:ext cx="2559843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E4002B"/>
                </a:solidFill>
                <a:latin typeface="JetBrains Mono"/>
              </a:rPr>
              <a:t>01 //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0125" y="3281362"/>
            <a:ext cx="268783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Absolute Privacy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125" y="3595687"/>
            <a:ext cx="2143125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Plus Jakarta Sans"/>
              </a:rPr>
              <a:t>Code never leaves device silicon. Immune to cloud outage or data retention leaks.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3005137"/>
            <a:ext cx="2559843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E4002B"/>
                </a:solidFill>
                <a:latin typeface="JetBrains Mono"/>
              </a:rPr>
              <a:t>02 // 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4750" y="3281362"/>
            <a:ext cx="268783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Zero 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4750" y="3595687"/>
            <a:ext cx="2143125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Plus Jakarta Sans"/>
              </a:rPr>
              <a:t>Dedicated NPU computes inferences at micro-watt levels without thermal throttling.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9375" y="3005137"/>
            <a:ext cx="2559843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E4002B"/>
                </a:solidFill>
                <a:latin typeface="JetBrains Mono"/>
              </a:rPr>
              <a:t>03 // MOBILITY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9375" y="3281362"/>
            <a:ext cx="268783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100%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9375" y="3595687"/>
            <a:ext cx="2143125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Plus Jakarta Sans"/>
              </a:rPr>
              <a:t>Consistent performance during air travel, high-security zones, and limited networks.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005137"/>
            <a:ext cx="2559843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E4002B"/>
                </a:solidFill>
                <a:latin typeface="JetBrains Mono"/>
              </a:rPr>
              <a:t>04 //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281362"/>
            <a:ext cx="268783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Enterprise 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595687"/>
            <a:ext cx="2143125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Plus Jakarta Sans"/>
              </a:rPr>
              <a:t>Meets rigid compliance boundaries with transparent local evaluation policies.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6000601"/>
            <a:ext cx="10668000" cy="3238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581275"/>
            <a:ext cx="5631805" cy="2047726"/>
          </a:xfrm>
          <a:prstGeom prst="roundRect">
            <a:avLst>
              <a:gd name="adj" fmla="val 5581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6000601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2581275"/>
            <a:ext cx="5631805" cy="381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3450" y="27241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4900" y="27241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76350" y="27241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705" y="2666851"/>
            <a:ext cx="219075" cy="1714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705" y="3419326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705" y="4000351"/>
            <a:ext cx="171450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2000" y="533400"/>
            <a:ext cx="1143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4002B"/>
                </a:solidFill>
                <a:latin typeface="Plus Jakarta Sans"/>
              </a:rPr>
              <a:t>FRICTIONLESS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81050"/>
            <a:ext cx="114300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Developer 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167288"/>
            <a:ext cx="5334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"/>
              </a:rPr>
              <a:t>Native execution for Windows on ARM and Linux ARM64 dev environments.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9400" y="6162526"/>
            <a:ext cx="12763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JetBrains Mono"/>
              </a:rPr>
              <a:t>06 |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" y="2695575"/>
            <a:ext cx="1583531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00" i="0" u="none">
                <a:solidFill>
                  <a:srgbClr val="94A3B8"/>
                </a:solidFill>
                <a:latin typeface="JetBrains Mono"/>
              </a:rPr>
              <a:t>snapdragon-terminal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600" y="3190875"/>
            <a:ext cx="6468256" cy="2266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050" i="0" u="none">
                <a:solidFill>
                  <a:srgbClr val="38BDF8"/>
                </a:solidFill>
                <a:latin typeface="JetBrains Mono"/>
              </a:rPr>
              <a:t>$ snapdragon-review check . --strict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600" y="3417540"/>
            <a:ext cx="6468256" cy="2266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050" i="0" u="none">
                <a:solidFill>
                  <a:srgbClr val="64748B"/>
                </a:solidFill>
                <a:latin typeface="JetBrains Mono"/>
              </a:rPr>
              <a:t>[✓] AST parsed in 14ms (28 files)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600" y="3644205"/>
            <a:ext cx="6468256" cy="2266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050" i="0" u="none">
                <a:solidFill>
                  <a:srgbClr val="64748B"/>
                </a:solidFill>
                <a:latin typeface="JetBrains Mono"/>
              </a:rPr>
              <a:t>[✓] Hexagon HTP execution provider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600" y="3947070"/>
            <a:ext cx="6468256" cy="2266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050" i="0" u="none">
                <a:solidFill>
                  <a:srgbClr val="F87171"/>
                </a:solidFill>
                <a:latin typeface="JetBrains Mono"/>
              </a:rPr>
              <a:t>[!] Blocker: Insecure rewrite rule in vercel.json:14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600" y="4173735"/>
            <a:ext cx="6468256" cy="2266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050" i="0" u="none">
                <a:solidFill>
                  <a:srgbClr val="4ADE80"/>
                </a:solidFill>
                <a:latin typeface="JetBrains Mono"/>
              </a:rPr>
              <a:t>[+] Fix applied locally via NPU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8180" y="2647801"/>
            <a:ext cx="508381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Plus Jakarta Sans"/>
              </a:rPr>
              <a:t>Structured JSON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8180" y="2885926"/>
            <a:ext cx="441706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Plus Jakarta Sans"/>
              </a:rPr>
              <a:t>Standardized payloads pipe seamlessly into VS Code, Neovim, and pre-commit hooks.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0555" y="3400276"/>
            <a:ext cx="513144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Plus Jakarta Sans"/>
              </a:rPr>
              <a:t>Strict Mode Enforcement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0555" y="3638401"/>
            <a:ext cx="5131444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Plus Jakarta Sans"/>
              </a:rPr>
              <a:t>Transforms soft heuristic warnings into absolute deployment blockers.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0555" y="3981301"/>
            <a:ext cx="513144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Plus Jakarta Sans"/>
              </a:rPr>
              <a:t>Vercel Preflight Guard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555" y="4219426"/>
            <a:ext cx="446469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Plus Jakarta Sans"/>
              </a:rPr>
              <a:t>Catches header misconfigurations before git push triggers preview deployments.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4505325"/>
            <a:ext cx="10668000" cy="781050"/>
          </a:xfrm>
          <a:prstGeom prst="roundRect">
            <a:avLst>
              <a:gd name="adj" fmla="val 12195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6000750"/>
            <a:ext cx="10668000" cy="3238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2000" y="1924050"/>
            <a:ext cx="3403550" cy="1866900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94150" y="1924050"/>
            <a:ext cx="3403550" cy="1866900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26300" y="1924050"/>
            <a:ext cx="3403550" cy="1866900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6000750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533400"/>
            <a:ext cx="1143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4002B"/>
                </a:solidFill>
                <a:latin typeface="Plus Jakarta Sans"/>
              </a:rPr>
              <a:t>EMPIRICAL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781050"/>
            <a:ext cx="114300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Demo &amp; Live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4695825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F172A"/>
                </a:solidFill>
                <a:latin typeface="Plus Jakarta Sans"/>
              </a:rPr>
              <a:t>Live Test Scenario: Injected API Token + Malformed Vercel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4924425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475569"/>
                </a:solidFill>
                <a:latin typeface="Plus Jakarta Sans"/>
              </a:rPr>
              <a:t>Simultaneous build tests confirm full compiler throughput with zero dropped frames or thermal throttling.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167437"/>
            <a:ext cx="5464968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"/>
              </a:rPr>
              <a:t>Benchmarked on Qualcomm Snapdragon X Elite (ARM64 reference system).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162675"/>
            <a:ext cx="13525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JetBrains Mono"/>
              </a:rPr>
              <a:t>07 |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837" y="2238375"/>
            <a:ext cx="3563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64748B"/>
                </a:solidFill>
                <a:latin typeface="Plus Jakarta Sans"/>
              </a:rPr>
              <a:t>REVIEW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837" y="2524125"/>
            <a:ext cx="3563875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b="1" sz="3900" i="0" u="none">
                <a:solidFill>
                  <a:srgbClr val="E4002B"/>
                </a:solidFill>
                <a:latin typeface="Plus Jakarta Sans"/>
              </a:rPr>
              <a:t>&lt;180ms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837" y="3133725"/>
            <a:ext cx="356387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475569"/>
                </a:solidFill>
                <a:latin typeface="Plus Jakarta Sans"/>
              </a:rPr>
              <a:t>Instant deterministic check &amp; on-device triage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3987" y="2238375"/>
            <a:ext cx="3563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64748B"/>
                </a:solidFill>
                <a:latin typeface="Plus Jakarta Sans"/>
              </a:rPr>
              <a:t>CPU USAGE DURING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3987" y="2524125"/>
            <a:ext cx="3563875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b="1" sz="3900" i="0" u="none">
                <a:solidFill>
                  <a:srgbClr val="0F172A"/>
                </a:solidFill>
                <a:latin typeface="Plus Jakarta Sans"/>
              </a:rPr>
              <a:t>&lt;2%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3987" y="3133725"/>
            <a:ext cx="356387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475569"/>
                </a:solidFill>
                <a:latin typeface="Plus Jakarta Sans"/>
              </a:rPr>
              <a:t>Workload completely offloaded to Hexagon NPU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46138" y="2238375"/>
            <a:ext cx="3563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64748B"/>
                </a:solidFill>
                <a:latin typeface="Plus Jakarta Sans"/>
              </a:rPr>
              <a:t>ARM64 NATIVE PROVIDER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46138" y="2524125"/>
            <a:ext cx="3563875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b="1" sz="3900" i="0" u="none">
                <a:solidFill>
                  <a:srgbClr val="0F172A"/>
                </a:solidFill>
                <a:latin typeface="Plus Jakarta Sans"/>
              </a:rPr>
              <a:t>QNN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6138" y="3133725"/>
            <a:ext cx="356387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475569"/>
                </a:solidFill>
                <a:latin typeface="Plus Jakarta Sans"/>
              </a:rPr>
              <a:t>Direct hardware acceleration with zero CPU penalty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6000750"/>
            <a:ext cx="10668000" cy="3238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714625"/>
            <a:ext cx="2524125" cy="1781175"/>
          </a:xfrm>
          <a:prstGeom prst="roundRect">
            <a:avLst>
              <a:gd name="adj" fmla="val 6417"/>
            </a:avLst>
          </a:prstGeom>
          <a:solidFill>
            <a:srgbClr val="FFFFFF"/>
          </a:solidFill>
          <a:ln w="381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2714625"/>
            <a:ext cx="2524125" cy="381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76625" y="2614612"/>
            <a:ext cx="2524125" cy="19812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38100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6625" y="2614612"/>
            <a:ext cx="2524125" cy="381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91250" y="2714625"/>
            <a:ext cx="2524125" cy="1781175"/>
          </a:xfrm>
          <a:prstGeom prst="roundRect">
            <a:avLst>
              <a:gd name="adj" fmla="val 6417"/>
            </a:avLst>
          </a:prstGeom>
          <a:solidFill>
            <a:srgbClr val="FFFFFF"/>
          </a:solidFill>
          <a:ln w="38100">
            <a:solidFill>
              <a:srgbClr val="E40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91250" y="2714625"/>
            <a:ext cx="2524125" cy="3810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05875" y="2614612"/>
            <a:ext cx="2524125" cy="19812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381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05875" y="2614612"/>
            <a:ext cx="2524125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6000750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33400"/>
            <a:ext cx="1143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4002B"/>
                </a:solidFill>
                <a:latin typeface="Plus Jakarta Sans"/>
              </a:rPr>
              <a:t>FORWARD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81050"/>
            <a:ext cx="114300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Accessibility &amp;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3019425"/>
            <a:ext cx="2162175" cy="1171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059669"/>
                </a:solidFill>
                <a:latin typeface="Plus Jakarta Sans"/>
              </a:rPr>
              <a:t> Phase 1: Today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5225" y="2919412"/>
            <a:ext cx="216217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0F172A"/>
                </a:solidFill>
                <a:latin typeface="Plus Jakarta Sans"/>
              </a:rPr>
              <a:t> Phase 2: Fallback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850" y="3019425"/>
            <a:ext cx="2162175" cy="1171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E4002B"/>
                </a:solidFill>
                <a:latin typeface="Plus Jakarta Sans"/>
              </a:rPr>
              <a:t> Phase 3: Hardware AI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4475" y="2919412"/>
            <a:ext cx="216217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64748B"/>
                </a:solidFill>
                <a:latin typeface="Plus Jakarta Sans"/>
              </a:rPr>
              <a:t> Phase 4: Ecosystem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167437"/>
            <a:ext cx="6786562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Plus Jakarta Sans"/>
              </a:rPr>
              <a:t>Continuous progressive enhancement from deterministic CLI to dedicated edge intelligence.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162675"/>
            <a:ext cx="12001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JetBrains Mono"/>
              </a:rPr>
              <a:t>08 | ROADMAP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600" y="3276600"/>
            <a:ext cx="2712839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Zero-Dep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600" y="3590925"/>
            <a:ext cx="2162175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Plus Jakarta Sans"/>
              </a:rPr>
              <a:t>Deterministic rule engine ready immediately without any AI or cloud prerequisites.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5225" y="3176587"/>
            <a:ext cx="2712839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CPU Transformers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5225" y="3490912"/>
            <a:ext cx="2162175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Plus Jakarta Sans"/>
              </a:rPr>
              <a:t>Portable CPU compatibility layer for non-Snapdragon workstations and legacy environments.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850" y="3276600"/>
            <a:ext cx="2712839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ONNX GenAI &amp; QNN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850" y="3590925"/>
            <a:ext cx="2162175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Plus Jakarta Sans"/>
              </a:rPr>
              <a:t>Direct Hexagon NPU execution provider integration for ultra-fast local code remediation.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4475" y="3176587"/>
            <a:ext cx="2712839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IDE Integrations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4475" y="3490912"/>
            <a:ext cx="2162175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Plus Jakarta Sans"/>
              </a:rPr>
              <a:t>Signed model distribution bundles, native VS Code extension, and custom rules editor.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7400" y="2010816"/>
            <a:ext cx="457200" cy="38100"/>
          </a:xfrm>
          <a:prstGeom prst="roundRect">
            <a:avLst>
              <a:gd name="adj" fmla="val 50000"/>
            </a:avLst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24287" y="4466183"/>
            <a:ext cx="4543425" cy="485775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450" y="1286916"/>
            <a:ext cx="419100" cy="419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612" y="4637633"/>
            <a:ext cx="161925" cy="1428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70359" y="2315616"/>
            <a:ext cx="10251281" cy="1007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967"/>
              </a:lnSpc>
            </a:pPr>
            <a:r>
              <a:rPr b="1" sz="3450" i="0" u="none">
                <a:solidFill>
                  <a:srgbClr val="FFFFFF"/>
                </a:solidFill>
                <a:latin typeface="Plus Jakarta Sans"/>
              </a:rPr>
              <a:t>Turn Every Snapdragon PC into a Private Edge Review 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47875" y="3513683"/>
            <a:ext cx="809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Plus Jakarta Sans"/>
              </a:rPr>
              <a:t>Install locally, safeguard code privacy, and eliminate review latency before every deployment.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5812" y="5409158"/>
            <a:ext cx="300037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JetBrains Mono"/>
              </a:rPr>
              <a:t>09 / SNAPDRAGON LOCAL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1450" y="4609058"/>
            <a:ext cx="4524375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F8FAFC"/>
                </a:solidFill>
                <a:latin typeface="JetBrains Mono"/>
              </a:rPr>
              <a:t>npm install -g snapdragon-local-review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0125"/>
            <a:ext cx="857250" cy="47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2187773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Plus Jakarta Sans"/>
              </a:rPr>
              <a:t>Image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6875" y="1038225"/>
            <a:ext cx="7012781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https://www.freepng.com/uploads/images/202512/napdragon-logo-vector-png_1020x.jpg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66875" y="1238250"/>
            <a:ext cx="2464593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www.freepng.com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